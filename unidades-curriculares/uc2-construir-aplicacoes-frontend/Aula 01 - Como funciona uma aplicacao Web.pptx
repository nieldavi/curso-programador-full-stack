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9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66" r:id="rId16"/>
    <p:sldId id="270" r:id="rId25"/>
    <p:sldId id="268" r:id="rId18"/>
    <p:sldId id="272" r:id="rId27"/>
    <p:sldId id="271" r:id="rId26"/>
    <p:sldId id="275" r:id="rId30"/>
    <p:sldId id="262" r:id="rId12"/>
    <p:sldId id="273" r:id="rId28"/>
  </p:sldIdLst>
  <p:sldSz cx="18288000" cy="10287000"/>
  <p:notesSz cx="6858000" cy="9144000"/>
  <p:embeddedFontLst>
    <p:embeddedFont>
      <p:font typeface="HK Grotesk Bold" charset="1" panose="00000800000000000000"/>
      <p:regular r:id="rId20"/>
    </p:embeddedFont>
    <p:embeddedFont>
      <p:font typeface="Canva Sans Bold Italics" charset="1" panose="020B0803030501040103"/>
      <p:regular r:id="rId21"/>
    </p:embeddedFont>
    <p:embeddedFont>
      <p:font typeface="Canva Sans Bold" charset="1" panose="020B0803030501040103"/>
      <p:regular r:id="rId22"/>
    </p:embeddedFont>
    <p:embeddedFont>
      <p:font typeface="HK Grotesk" charset="1" panose="00000500000000000000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2" Type="http://schemas.openxmlformats.org/officeDocument/2006/relationships/slide" Target="slides/slide9.xml"/><Relationship Id="rId16" Type="http://schemas.openxmlformats.org/officeDocument/2006/relationships/slide" Target="slides/slide3.xml"/><Relationship Id="rId18" Type="http://schemas.openxmlformats.org/officeDocument/2006/relationships/slide" Target="slides/slide5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slide" Target="slides/slide4.xml"/><Relationship Id="rId26" Type="http://schemas.openxmlformats.org/officeDocument/2006/relationships/slide" Target="slides/slide7.xml"/><Relationship Id="rId27" Type="http://schemas.openxmlformats.org/officeDocument/2006/relationships/slide" Target="slides/slide6.xml"/><Relationship Id="rId28" Type="http://schemas.openxmlformats.org/officeDocument/2006/relationships/slide" Target="slides/slide10.xml"/><Relationship Id="rId30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e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28.png"/><Relationship Id="rId9" Type="http://schemas.openxmlformats.org/officeDocument/2006/relationships/image" Target="../media/image29.svg"/><Relationship Id="rId10" Type="http://schemas.openxmlformats.org/officeDocument/2006/relationships/image" Target="../media/image30.png"/><Relationship Id="rId11" Type="http://schemas.openxmlformats.org/officeDocument/2006/relationships/image" Target="../media/image31.svg"/><Relationship Id="rId12" Type="http://schemas.openxmlformats.org/officeDocument/2006/relationships/image" Target="../media/image32.png"/><Relationship Id="rId13" Type="http://schemas.openxmlformats.org/officeDocument/2006/relationships/image" Target="../media/image3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e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28.png"/><Relationship Id="rId9" Type="http://schemas.openxmlformats.org/officeDocument/2006/relationships/image" Target="../media/image29.svg"/><Relationship Id="rId10" Type="http://schemas.openxmlformats.org/officeDocument/2006/relationships/image" Target="../media/image30.png"/><Relationship Id="rId11" Type="http://schemas.openxmlformats.org/officeDocument/2006/relationships/image" Target="../media/image31.svg"/><Relationship Id="rId12" Type="http://schemas.openxmlformats.org/officeDocument/2006/relationships/image" Target="../media/image32.png"/><Relationship Id="rId13" Type="http://schemas.openxmlformats.org/officeDocument/2006/relationships/image" Target="../media/image3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e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e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28.png"/><Relationship Id="rId9" Type="http://schemas.openxmlformats.org/officeDocument/2006/relationships/image" Target="../media/image29.svg"/><Relationship Id="rId10" Type="http://schemas.openxmlformats.org/officeDocument/2006/relationships/image" Target="../media/image30.png"/><Relationship Id="rId11" Type="http://schemas.openxmlformats.org/officeDocument/2006/relationships/image" Target="../media/image31.svg"/><Relationship Id="rId12" Type="http://schemas.openxmlformats.org/officeDocument/2006/relationships/image" Target="../media/image32.png"/><Relationship Id="rId13" Type="http://schemas.openxmlformats.org/officeDocument/2006/relationships/image" Target="../media/image3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37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89872" y="231552"/>
            <a:ext cx="8516895" cy="2427315"/>
          </a:xfrm>
          <a:custGeom>
            <a:avLst/>
            <a:gdLst/>
            <a:ahLst/>
            <a:cxnLst/>
            <a:rect r="r" b="b" t="t" l="l"/>
            <a:pathLst>
              <a:path h="2427315" w="8516895">
                <a:moveTo>
                  <a:pt x="0" y="0"/>
                </a:moveTo>
                <a:lnTo>
                  <a:pt x="8516895" y="0"/>
                </a:lnTo>
                <a:lnTo>
                  <a:pt x="8516895" y="2427316"/>
                </a:lnTo>
                <a:lnTo>
                  <a:pt x="0" y="2427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77739"/>
            <a:ext cx="2944697" cy="934941"/>
          </a:xfrm>
          <a:custGeom>
            <a:avLst/>
            <a:gdLst/>
            <a:ahLst/>
            <a:cxnLst/>
            <a:rect r="r" b="b" t="t" l="l"/>
            <a:pathLst>
              <a:path h="934941" w="2944697">
                <a:moveTo>
                  <a:pt x="0" y="0"/>
                </a:moveTo>
                <a:lnTo>
                  <a:pt x="2944697" y="0"/>
                </a:lnTo>
                <a:lnTo>
                  <a:pt x="2944697" y="934942"/>
                </a:lnTo>
                <a:lnTo>
                  <a:pt x="0" y="9349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31408" y="0"/>
            <a:ext cx="15445946" cy="10287000"/>
          </a:xfrm>
          <a:custGeom>
            <a:avLst/>
            <a:gdLst/>
            <a:ahLst/>
            <a:cxnLst/>
            <a:rect r="r" b="b" t="t" l="l"/>
            <a:pathLst>
              <a:path h="10287000" w="15445946">
                <a:moveTo>
                  <a:pt x="0" y="0"/>
                </a:moveTo>
                <a:lnTo>
                  <a:pt x="15445946" y="0"/>
                </a:lnTo>
                <a:lnTo>
                  <a:pt x="154459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3357" y="2706493"/>
            <a:ext cx="9698321" cy="9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3"/>
              </a:lnSpc>
            </a:pPr>
            <a:r>
              <a:rPr lang="en-US" sz="6417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Programador </a:t>
            </a:r>
            <a:r>
              <a:rPr lang="en-US" sz="6417" b="true">
                <a:solidFill>
                  <a:srgbClr val="F28C1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Full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3357" y="8064038"/>
            <a:ext cx="6243188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 i="true">
                <a:solidFill>
                  <a:srgbClr val="F6931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Prof. Francisco Davi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357" y="4510388"/>
            <a:ext cx="9698321" cy="136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7"/>
              </a:lnSpc>
            </a:pPr>
            <a:r>
              <a:rPr lang="en-US" sz="4817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Como Funciona uma Aplicação Web?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42766" y="-1307511"/>
            <a:ext cx="4268549" cy="3774591"/>
          </a:xfrm>
          <a:custGeom>
            <a:avLst/>
            <a:gdLst/>
            <a:ahLst/>
            <a:cxnLst/>
            <a:rect r="r" b="b" t="t" l="l"/>
            <a:pathLst>
              <a:path h="3774591" w="4268549">
                <a:moveTo>
                  <a:pt x="0" y="0"/>
                </a:moveTo>
                <a:lnTo>
                  <a:pt x="4268549" y="0"/>
                </a:lnTo>
                <a:lnTo>
                  <a:pt x="4268549" y="3774591"/>
                </a:lnTo>
                <a:lnTo>
                  <a:pt x="0" y="3774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8" t="-14439" r="-59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8916" y="1028700"/>
            <a:ext cx="2260384" cy="717672"/>
          </a:xfrm>
          <a:custGeom>
            <a:avLst/>
            <a:gdLst/>
            <a:ahLst/>
            <a:cxnLst/>
            <a:rect r="r" b="b" t="t" l="l"/>
            <a:pathLst>
              <a:path h="717672" w="2260384">
                <a:moveTo>
                  <a:pt x="0" y="0"/>
                </a:moveTo>
                <a:lnTo>
                  <a:pt x="2260384" y="0"/>
                </a:lnTo>
                <a:lnTo>
                  <a:pt x="2260384" y="717672"/>
                </a:lnTo>
                <a:lnTo>
                  <a:pt x="0" y="717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4" name="Título"/>
          <p:cNvSpPr txBox="1"/>
          <p:nvPr/>
        </p:nvSpPr>
        <p:spPr>
          <a:xfrm>
            <a:off x="1005840" y="9144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273773"/>
                </a:solidFill>
                <a:latin typeface="HK Grotesk Bold"/>
              </a:rPr>
              <a:t>Internet x Web</a:t>
            </a:r>
          </a:p>
        </p:txBody>
      </p:sp>
      <p:sp>
        <p:nvSpPr>
          <p:cNvPr id="5" name="Card"/>
          <p:cNvSpPr/>
          <p:nvPr/>
        </p:nvSpPr>
        <p:spPr>
          <a:xfrm>
            <a:off x="1005840" y="2926080"/>
            <a:ext cx="7955279" cy="402336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beçalho do cartão"/>
          <p:cNvSpPr txBox="1"/>
          <p:nvPr/>
        </p:nvSpPr>
        <p:spPr>
          <a:xfrm>
            <a:off x="1554480" y="3383280"/>
            <a:ext cx="6857999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F6931D"/>
                </a:solidFill>
                <a:latin typeface="HK Grotesk Bold"/>
              </a:rPr>
              <a:t>Internet</a:t>
            </a:r>
          </a:p>
        </p:txBody>
      </p:sp>
      <p:sp>
        <p:nvSpPr>
          <p:cNvPr id="7" name="Texto do cartão"/>
          <p:cNvSpPr txBox="1"/>
          <p:nvPr/>
        </p:nvSpPr>
        <p:spPr>
          <a:xfrm>
            <a:off x="1554480" y="4480560"/>
            <a:ext cx="6857999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Canva Sans"/>
              </a:rPr>
              <a:t>A rede mundial que conecta computadores e dispositivos. É a infraestrutura.</a:t>
            </a:r>
          </a:p>
        </p:txBody>
      </p:sp>
      <p:sp>
        <p:nvSpPr>
          <p:cNvPr id="8" name="Card"/>
          <p:cNvSpPr/>
          <p:nvPr/>
        </p:nvSpPr>
        <p:spPr>
          <a:xfrm>
            <a:off x="9326880" y="2926080"/>
            <a:ext cx="7955279" cy="402336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beçalho do cartão"/>
          <p:cNvSpPr txBox="1"/>
          <p:nvPr/>
        </p:nvSpPr>
        <p:spPr>
          <a:xfrm>
            <a:off x="9875519" y="3383280"/>
            <a:ext cx="6857999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F6931D"/>
                </a:solidFill>
                <a:latin typeface="HK Grotesk Bold"/>
              </a:rPr>
              <a:t>Web</a:t>
            </a:r>
          </a:p>
        </p:txBody>
      </p:sp>
      <p:sp>
        <p:nvSpPr>
          <p:cNvPr id="10" name="Texto do cartão"/>
          <p:cNvSpPr txBox="1"/>
          <p:nvPr/>
        </p:nvSpPr>
        <p:spPr>
          <a:xfrm>
            <a:off x="9875519" y="4480560"/>
            <a:ext cx="6857999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Canva Sans"/>
              </a:rPr>
              <a:t>Um serviço que funciona sobre a internet: páginas e sistemas acessados pelo navegador.</a:t>
            </a:r>
          </a:p>
        </p:txBody>
      </p:sp>
      <p:sp>
        <p:nvSpPr>
          <p:cNvPr id="11" name="Texto"/>
          <p:cNvSpPr txBox="1"/>
          <p:nvPr/>
        </p:nvSpPr>
        <p:spPr>
          <a:xfrm>
            <a:off x="1005840" y="7589520"/>
            <a:ext cx="16276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273773"/>
                </a:solidFill>
                <a:latin typeface="HK Grotesk Bold"/>
              </a:rPr>
              <a:t>E-mail, jogos online e streaming também usam a internet.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37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61520"/>
          </a:xfrm>
          <a:custGeom>
            <a:avLst/>
            <a:gdLst/>
            <a:ahLst/>
            <a:cxnLst/>
            <a:rect r="r" b="b" t="t" l="l"/>
            <a:pathLst>
              <a:path h="12161520" w="18288000">
                <a:moveTo>
                  <a:pt x="0" y="0"/>
                </a:moveTo>
                <a:lnTo>
                  <a:pt x="18288000" y="0"/>
                </a:lnTo>
                <a:lnTo>
                  <a:pt x="18288000" y="12161520"/>
                </a:lnTo>
                <a:lnTo>
                  <a:pt x="0" y="12161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8916" y="1028700"/>
            <a:ext cx="2260384" cy="717672"/>
          </a:xfrm>
          <a:custGeom>
            <a:avLst/>
            <a:gdLst/>
            <a:ahLst/>
            <a:cxnLst/>
            <a:rect r="r" b="b" t="t" l="l"/>
            <a:pathLst>
              <a:path h="717672" w="2260384">
                <a:moveTo>
                  <a:pt x="0" y="0"/>
                </a:moveTo>
                <a:lnTo>
                  <a:pt x="2260384" y="0"/>
                </a:lnTo>
                <a:lnTo>
                  <a:pt x="2260384" y="717672"/>
                </a:lnTo>
                <a:lnTo>
                  <a:pt x="0" y="717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4" name="Título"/>
          <p:cNvSpPr txBox="1"/>
          <p:nvPr/>
        </p:nvSpPr>
        <p:spPr>
          <a:xfrm>
            <a:off x="1005840" y="9144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HK Grotesk Bold"/>
              </a:rPr>
              <a:t>Cliente e servidor</a:t>
            </a:r>
          </a:p>
        </p:txBody>
      </p:sp>
      <p:sp>
        <p:nvSpPr>
          <p:cNvPr id="5" name="Card"/>
          <p:cNvSpPr/>
          <p:nvPr/>
        </p:nvSpPr>
        <p:spPr>
          <a:xfrm>
            <a:off x="1005840" y="3108960"/>
            <a:ext cx="6035040" cy="4206240"/>
          </a:xfrm>
          <a:prstGeom prst="roundRect">
            <a:avLst>
              <a:gd name="adj" fmla="val 8000"/>
            </a:avLst>
          </a:prstGeom>
          <a:solidFill>
            <a:srgbClr val="27377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beçalho do cartão"/>
          <p:cNvSpPr txBox="1"/>
          <p:nvPr/>
        </p:nvSpPr>
        <p:spPr>
          <a:xfrm>
            <a:off x="1554480" y="3566160"/>
            <a:ext cx="4937759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F6931D"/>
                </a:solidFill>
                <a:latin typeface="HK Grotesk Bold"/>
              </a:rPr>
              <a:t>Cliente</a:t>
            </a:r>
          </a:p>
        </p:txBody>
      </p:sp>
      <p:sp>
        <p:nvSpPr>
          <p:cNvPr id="7" name="Texto do cartão"/>
          <p:cNvSpPr txBox="1"/>
          <p:nvPr/>
        </p:nvSpPr>
        <p:spPr>
          <a:xfrm>
            <a:off x="1554480" y="4663440"/>
            <a:ext cx="4937759" cy="2285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Canva Sans"/>
              </a:rPr>
              <a:t>Quem pede: o navegador no seu computador ou celular.</a:t>
            </a:r>
          </a:p>
        </p:txBody>
      </p:sp>
      <p:sp>
        <p:nvSpPr>
          <p:cNvPr id="8" name="Card"/>
          <p:cNvSpPr/>
          <p:nvPr/>
        </p:nvSpPr>
        <p:spPr>
          <a:xfrm>
            <a:off x="11247120" y="3108960"/>
            <a:ext cx="6035040" cy="4206240"/>
          </a:xfrm>
          <a:prstGeom prst="roundRect">
            <a:avLst>
              <a:gd name="adj" fmla="val 8000"/>
            </a:avLst>
          </a:prstGeom>
          <a:solidFill>
            <a:srgbClr val="27377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beçalho do cartão"/>
          <p:cNvSpPr txBox="1"/>
          <p:nvPr/>
        </p:nvSpPr>
        <p:spPr>
          <a:xfrm>
            <a:off x="11795760" y="3566160"/>
            <a:ext cx="4937759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F6931D"/>
                </a:solidFill>
                <a:latin typeface="HK Grotesk Bold"/>
              </a:rPr>
              <a:t>Servidor</a:t>
            </a:r>
          </a:p>
        </p:txBody>
      </p:sp>
      <p:sp>
        <p:nvSpPr>
          <p:cNvPr id="10" name="Texto do cartão"/>
          <p:cNvSpPr txBox="1"/>
          <p:nvPr/>
        </p:nvSpPr>
        <p:spPr>
          <a:xfrm>
            <a:off x="11795760" y="4663440"/>
            <a:ext cx="4937759" cy="2285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Canva Sans"/>
              </a:rPr>
              <a:t>Quem responde: o computador que guarda o site ou o sistema.</a:t>
            </a:r>
          </a:p>
        </p:txBody>
      </p:sp>
      <p:sp>
        <p:nvSpPr>
          <p:cNvPr id="11" name="Texto"/>
          <p:cNvSpPr txBox="1"/>
          <p:nvPr/>
        </p:nvSpPr>
        <p:spPr>
          <a:xfrm>
            <a:off x="7223760" y="356616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HK Grotesk Bold"/>
              </a:rPr>
              <a:t>Requisição</a:t>
            </a:r>
          </a:p>
        </p:txBody>
      </p:sp>
      <p:sp>
        <p:nvSpPr>
          <p:cNvPr id="12" name="Seta"/>
          <p:cNvSpPr/>
          <p:nvPr/>
        </p:nvSpPr>
        <p:spPr>
          <a:xfrm>
            <a:off x="7406640" y="4206240"/>
            <a:ext cx="3474720" cy="731520"/>
          </a:xfrm>
          <a:prstGeom prst="rightArrow">
            <a:avLst/>
          </a:prstGeom>
          <a:solidFill>
            <a:srgbClr val="F6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o"/>
          <p:cNvSpPr txBox="1"/>
          <p:nvPr/>
        </p:nvSpPr>
        <p:spPr>
          <a:xfrm>
            <a:off x="7223760" y="539496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HK Grotesk Bold"/>
              </a:rPr>
              <a:t>Resposta</a:t>
            </a:r>
          </a:p>
        </p:txBody>
      </p:sp>
      <p:sp>
        <p:nvSpPr>
          <p:cNvPr id="14" name="Seta"/>
          <p:cNvSpPr/>
          <p:nvPr/>
        </p:nvSpPr>
        <p:spPr>
          <a:xfrm>
            <a:off x="7406640" y="6035040"/>
            <a:ext cx="3474720" cy="731520"/>
          </a:xfrm>
          <a:prstGeom prst="leftArrow">
            <a:avLst/>
          </a:prstGeom>
          <a:solidFill>
            <a:srgbClr val="F6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42766" y="-1307511"/>
            <a:ext cx="4268549" cy="3774591"/>
          </a:xfrm>
          <a:custGeom>
            <a:avLst/>
            <a:gdLst/>
            <a:ahLst/>
            <a:cxnLst/>
            <a:rect r="r" b="b" t="t" l="l"/>
            <a:pathLst>
              <a:path h="3774591" w="4268549">
                <a:moveTo>
                  <a:pt x="0" y="0"/>
                </a:moveTo>
                <a:lnTo>
                  <a:pt x="4268549" y="0"/>
                </a:lnTo>
                <a:lnTo>
                  <a:pt x="4268549" y="3774591"/>
                </a:lnTo>
                <a:lnTo>
                  <a:pt x="0" y="3774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8" t="-14439" r="-59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8916" y="1028700"/>
            <a:ext cx="2260384" cy="717672"/>
          </a:xfrm>
          <a:custGeom>
            <a:avLst/>
            <a:gdLst/>
            <a:ahLst/>
            <a:cxnLst/>
            <a:rect r="r" b="b" t="t" l="l"/>
            <a:pathLst>
              <a:path h="717672" w="2260384">
                <a:moveTo>
                  <a:pt x="0" y="0"/>
                </a:moveTo>
                <a:lnTo>
                  <a:pt x="2260384" y="0"/>
                </a:lnTo>
                <a:lnTo>
                  <a:pt x="2260384" y="717672"/>
                </a:lnTo>
                <a:lnTo>
                  <a:pt x="0" y="717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4" name="Título"/>
          <p:cNvSpPr txBox="1"/>
          <p:nvPr/>
        </p:nvSpPr>
        <p:spPr>
          <a:xfrm>
            <a:off x="1005840" y="9144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273773"/>
                </a:solidFill>
                <a:latin typeface="HK Grotesk Bold"/>
              </a:rPr>
              <a:t>Navegador e URL</a:t>
            </a:r>
          </a:p>
        </p:txBody>
      </p:sp>
      <p:sp>
        <p:nvSpPr>
          <p:cNvPr id="5" name="Texto"/>
          <p:cNvSpPr txBox="1"/>
          <p:nvPr/>
        </p:nvSpPr>
        <p:spPr>
          <a:xfrm>
            <a:off x="1005840" y="2103120"/>
            <a:ext cx="13716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273773"/>
                </a:solidFill>
                <a:latin typeface="Canva Sans"/>
              </a:rPr>
              <a:t>O navegador usa a URL para saber o que pedir e a quem.</a:t>
            </a:r>
          </a:p>
        </p:txBody>
      </p:sp>
      <p:sp>
        <p:nvSpPr>
          <p:cNvPr id="6" name="Card"/>
          <p:cNvSpPr/>
          <p:nvPr/>
        </p:nvSpPr>
        <p:spPr>
          <a:xfrm>
            <a:off x="1005840" y="3108960"/>
            <a:ext cx="16276320" cy="137160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RL"/>
          <p:cNvSpPr txBox="1"/>
          <p:nvPr/>
        </p:nvSpPr>
        <p:spPr>
          <a:xfrm>
            <a:off x="1005840" y="3108960"/>
            <a:ext cx="1627632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ourier New"/>
              </a:rPr>
              <a:t>https://www.exemplo.com/produtos?id=10</a:t>
            </a:r>
          </a:p>
        </p:txBody>
      </p:sp>
      <p:sp>
        <p:nvSpPr>
          <p:cNvPr id="8" name="Card"/>
          <p:cNvSpPr/>
          <p:nvPr/>
        </p:nvSpPr>
        <p:spPr>
          <a:xfrm>
            <a:off x="1005840" y="5120640"/>
            <a:ext cx="3840480" cy="310896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o"/>
          <p:cNvSpPr txBox="1"/>
          <p:nvPr/>
        </p:nvSpPr>
        <p:spPr>
          <a:xfrm>
            <a:off x="1371600" y="5440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F6931D"/>
                </a:solidFill>
                <a:latin typeface="HK Grotesk Bold"/>
              </a:rPr>
              <a:t>Protocolo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1371600" y="6126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ourier New"/>
              </a:rPr>
              <a:t>https://</a:t>
            </a:r>
          </a:p>
        </p:txBody>
      </p:sp>
      <p:sp>
        <p:nvSpPr>
          <p:cNvPr id="11" name="Texto"/>
          <p:cNvSpPr txBox="1"/>
          <p:nvPr/>
        </p:nvSpPr>
        <p:spPr>
          <a:xfrm>
            <a:off x="1371600" y="694944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nva Sans"/>
              </a:rPr>
              <a:t>Como a comunicação é feita</a:t>
            </a:r>
          </a:p>
        </p:txBody>
      </p:sp>
      <p:sp>
        <p:nvSpPr>
          <p:cNvPr id="12" name="Card"/>
          <p:cNvSpPr/>
          <p:nvPr/>
        </p:nvSpPr>
        <p:spPr>
          <a:xfrm>
            <a:off x="5150815" y="5120640"/>
            <a:ext cx="3840480" cy="310896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o"/>
          <p:cNvSpPr txBox="1"/>
          <p:nvPr/>
        </p:nvSpPr>
        <p:spPr>
          <a:xfrm>
            <a:off x="5516575" y="5440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F6931D"/>
                </a:solidFill>
                <a:latin typeface="HK Grotesk Bold"/>
              </a:rPr>
              <a:t>Domínio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5516575" y="6126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ourier New"/>
              </a:rPr>
              <a:t>www.exemplo.com</a:t>
            </a:r>
          </a:p>
        </p:txBody>
      </p:sp>
      <p:sp>
        <p:nvSpPr>
          <p:cNvPr id="15" name="Texto"/>
          <p:cNvSpPr txBox="1"/>
          <p:nvPr/>
        </p:nvSpPr>
        <p:spPr>
          <a:xfrm>
            <a:off x="5516575" y="694944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nva Sans"/>
              </a:rPr>
              <a:t>Qual servidor responde</a:t>
            </a:r>
          </a:p>
        </p:txBody>
      </p:sp>
      <p:sp>
        <p:nvSpPr>
          <p:cNvPr id="16" name="Card"/>
          <p:cNvSpPr/>
          <p:nvPr/>
        </p:nvSpPr>
        <p:spPr>
          <a:xfrm>
            <a:off x="9295790" y="5120640"/>
            <a:ext cx="3840480" cy="310896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"/>
          <p:cNvSpPr txBox="1"/>
          <p:nvPr/>
        </p:nvSpPr>
        <p:spPr>
          <a:xfrm>
            <a:off x="9661550" y="5440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F6931D"/>
                </a:solidFill>
                <a:latin typeface="HK Grotesk Bold"/>
              </a:rPr>
              <a:t>Caminho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9661550" y="6126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ourier New"/>
              </a:rPr>
              <a:t>/produtos</a:t>
            </a:r>
          </a:p>
        </p:txBody>
      </p:sp>
      <p:sp>
        <p:nvSpPr>
          <p:cNvPr id="19" name="Texto"/>
          <p:cNvSpPr txBox="1"/>
          <p:nvPr/>
        </p:nvSpPr>
        <p:spPr>
          <a:xfrm>
            <a:off x="9661550" y="694944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nva Sans"/>
              </a:rPr>
              <a:t>Qual página ou recurso</a:t>
            </a:r>
          </a:p>
        </p:txBody>
      </p:sp>
      <p:sp>
        <p:nvSpPr>
          <p:cNvPr id="20" name="Card"/>
          <p:cNvSpPr/>
          <p:nvPr/>
        </p:nvSpPr>
        <p:spPr>
          <a:xfrm>
            <a:off x="13440765" y="5120640"/>
            <a:ext cx="3840480" cy="310896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o"/>
          <p:cNvSpPr txBox="1"/>
          <p:nvPr/>
        </p:nvSpPr>
        <p:spPr>
          <a:xfrm>
            <a:off x="13806525" y="5440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F6931D"/>
                </a:solidFill>
                <a:latin typeface="HK Grotesk Bold"/>
              </a:rPr>
              <a:t>Parâmetro</a:t>
            </a:r>
          </a:p>
        </p:txBody>
      </p:sp>
      <p:sp>
        <p:nvSpPr>
          <p:cNvPr id="22" name="Texto"/>
          <p:cNvSpPr txBox="1"/>
          <p:nvPr/>
        </p:nvSpPr>
        <p:spPr>
          <a:xfrm>
            <a:off x="13806525" y="6126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ourier New"/>
              </a:rPr>
              <a:t>?id=10</a:t>
            </a:r>
          </a:p>
        </p:txBody>
      </p:sp>
      <p:sp>
        <p:nvSpPr>
          <p:cNvPr id="23" name="Texto"/>
          <p:cNvSpPr txBox="1"/>
          <p:nvPr/>
        </p:nvSpPr>
        <p:spPr>
          <a:xfrm>
            <a:off x="13806525" y="694944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nva Sans"/>
              </a:rPr>
              <a:t>Informação extra no pedido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37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98916" y="1028700"/>
            <a:ext cx="2260384" cy="717672"/>
          </a:xfrm>
          <a:custGeom>
            <a:avLst/>
            <a:gdLst/>
            <a:ahLst/>
            <a:cxnLst/>
            <a:rect r="r" b="b" t="t" l="l"/>
            <a:pathLst>
              <a:path h="717672" w="2260384">
                <a:moveTo>
                  <a:pt x="0" y="0"/>
                </a:moveTo>
                <a:lnTo>
                  <a:pt x="2260384" y="0"/>
                </a:lnTo>
                <a:lnTo>
                  <a:pt x="2260384" y="717672"/>
                </a:lnTo>
                <a:lnTo>
                  <a:pt x="0" y="71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1005840" y="9144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HK Grotesk Bold"/>
              </a:rPr>
              <a:t>HTTP: requisição e resposta</a:t>
            </a:r>
          </a:p>
        </p:txBody>
      </p:sp>
      <p:sp>
        <p:nvSpPr>
          <p:cNvPr id="4" name="Card"/>
          <p:cNvSpPr/>
          <p:nvPr/>
        </p:nvSpPr>
        <p:spPr>
          <a:xfrm>
            <a:off x="1005840" y="2926080"/>
            <a:ext cx="7955279" cy="4480560"/>
          </a:xfrm>
          <a:prstGeom prst="roundRect">
            <a:avLst>
              <a:gd name="adj" fmla="val 8000"/>
            </a:avLst>
          </a:prstGeom>
          <a:solidFill>
            <a:srgbClr val="F6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o"/>
          <p:cNvSpPr txBox="1"/>
          <p:nvPr/>
        </p:nvSpPr>
        <p:spPr>
          <a:xfrm>
            <a:off x="1554480" y="338328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273773"/>
                </a:solidFill>
                <a:latin typeface="HK Grotesk Bold"/>
              </a:rPr>
              <a:t>Requisição</a:t>
            </a:r>
          </a:p>
        </p:txBody>
      </p:sp>
      <p:sp>
        <p:nvSpPr>
          <p:cNvPr id="6" name="Texto"/>
          <p:cNvSpPr txBox="1"/>
          <p:nvPr/>
        </p:nvSpPr>
        <p:spPr>
          <a:xfrm>
            <a:off x="1554480" y="4572000"/>
            <a:ext cx="6858000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457200" indent="-457200">
              <a:lnSpc>
                <a:spcPct val="110000"/>
              </a:lnSpc>
              <a:spcAft>
                <a:spcPts val="1000"/>
              </a:spcAft>
              <a:buClr>
                <a:srgbClr val="273773"/>
              </a:buClr>
              <a:buFont typeface="Arial"/>
              <a:buChar char="•"/>
            </a:pPr>
            <a:r>
              <a:rPr sz="3000" b="0">
                <a:solidFill>
                  <a:srgbClr val="273773"/>
                </a:solidFill>
                <a:latin typeface="Canva Sans"/>
              </a:rPr>
              <a:t>Método: GET ou POST</a:t>
            </a:r>
          </a:p>
          <a:p>
            <a:pPr algn="l" marL="457200" indent="-457200">
              <a:lnSpc>
                <a:spcPct val="110000"/>
              </a:lnSpc>
              <a:spcAft>
                <a:spcPts val="1000"/>
              </a:spcAft>
              <a:buClr>
                <a:srgbClr val="273773"/>
              </a:buClr>
              <a:buFont typeface="Arial"/>
              <a:buChar char="•"/>
            </a:pPr>
            <a:r>
              <a:rPr sz="3000" b="0">
                <a:solidFill>
                  <a:srgbClr val="273773"/>
                </a:solidFill>
                <a:latin typeface="Canva Sans"/>
              </a:rPr>
              <a:t>Endereço (URL)</a:t>
            </a:r>
          </a:p>
          <a:p>
            <a:pPr algn="l" marL="457200" indent="-457200">
              <a:lnSpc>
                <a:spcPct val="110000"/>
              </a:lnSpc>
              <a:spcAft>
                <a:spcPts val="1000"/>
              </a:spcAft>
              <a:buClr>
                <a:srgbClr val="273773"/>
              </a:buClr>
              <a:buFont typeface="Arial"/>
              <a:buChar char="•"/>
            </a:pPr>
            <a:r>
              <a:rPr sz="3000" b="0">
                <a:solidFill>
                  <a:srgbClr val="273773"/>
                </a:solidFill>
                <a:latin typeface="Canva Sans"/>
              </a:rPr>
              <a:t>Cabeçalhos</a:t>
            </a:r>
          </a:p>
        </p:txBody>
      </p:sp>
      <p:sp>
        <p:nvSpPr>
          <p:cNvPr id="7" name="Card"/>
          <p:cNvSpPr/>
          <p:nvPr/>
        </p:nvSpPr>
        <p:spPr>
          <a:xfrm>
            <a:off x="9326880" y="2926080"/>
            <a:ext cx="7955279" cy="4480560"/>
          </a:xfrm>
          <a:prstGeom prst="roundRect">
            <a:avLst>
              <a:gd name="adj" fmla="val 8000"/>
            </a:avLst>
          </a:prstGeom>
          <a:solidFill>
            <a:srgbClr val="F6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o"/>
          <p:cNvSpPr txBox="1"/>
          <p:nvPr/>
        </p:nvSpPr>
        <p:spPr>
          <a:xfrm>
            <a:off x="9875519" y="338328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273773"/>
                </a:solidFill>
                <a:latin typeface="HK Grotesk Bold"/>
              </a:rPr>
              <a:t>Resposta</a:t>
            </a:r>
          </a:p>
        </p:txBody>
      </p:sp>
      <p:sp>
        <p:nvSpPr>
          <p:cNvPr id="9" name="Texto"/>
          <p:cNvSpPr txBox="1"/>
          <p:nvPr/>
        </p:nvSpPr>
        <p:spPr>
          <a:xfrm>
            <a:off x="9875519" y="4572000"/>
            <a:ext cx="6858000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457200" indent="-457200">
              <a:lnSpc>
                <a:spcPct val="110000"/>
              </a:lnSpc>
              <a:spcAft>
                <a:spcPts val="1000"/>
              </a:spcAft>
              <a:buClr>
                <a:srgbClr val="273773"/>
              </a:buClr>
              <a:buFont typeface="Arial"/>
              <a:buChar char="•"/>
            </a:pPr>
            <a:r>
              <a:rPr sz="3000" b="0">
                <a:solidFill>
                  <a:srgbClr val="273773"/>
                </a:solidFill>
                <a:latin typeface="Canva Sans"/>
              </a:rPr>
              <a:t>Código de status</a:t>
            </a:r>
          </a:p>
          <a:p>
            <a:pPr algn="l" marL="457200" indent="-457200">
              <a:lnSpc>
                <a:spcPct val="110000"/>
              </a:lnSpc>
              <a:spcAft>
                <a:spcPts val="1000"/>
              </a:spcAft>
              <a:buClr>
                <a:srgbClr val="273773"/>
              </a:buClr>
              <a:buFont typeface="Arial"/>
              <a:buChar char="•"/>
            </a:pPr>
            <a:r>
              <a:rPr sz="3000" b="0">
                <a:solidFill>
                  <a:srgbClr val="273773"/>
                </a:solidFill>
                <a:latin typeface="Canva Sans"/>
              </a:rPr>
              <a:t>Cabeçalhos</a:t>
            </a:r>
          </a:p>
          <a:p>
            <a:pPr algn="l" marL="457200" indent="-457200">
              <a:lnSpc>
                <a:spcPct val="110000"/>
              </a:lnSpc>
              <a:spcAft>
                <a:spcPts val="1000"/>
              </a:spcAft>
              <a:buClr>
                <a:srgbClr val="273773"/>
              </a:buClr>
              <a:buFont typeface="Arial"/>
              <a:buChar char="•"/>
            </a:pPr>
            <a:r>
              <a:rPr sz="3000" b="0">
                <a:solidFill>
                  <a:srgbClr val="273773"/>
                </a:solidFill>
                <a:latin typeface="Canva Sans"/>
              </a:rPr>
              <a:t>Conteúdo: HTML, CSS, JSON, imagens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1005840" y="8138160"/>
            <a:ext cx="16276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F6931D"/>
                </a:solidFill>
                <a:latin typeface="HK Grotesk Bold"/>
              </a:rPr>
              <a:t>200</a:t>
            </a:r>
            <a:r>
              <a:rPr sz="3000" b="0">
                <a:solidFill>
                  <a:srgbClr val="FFFFFF"/>
                </a:solidFill>
                <a:latin typeface="Canva Sans"/>
              </a:rPr>
              <a:t> OK    ·    </a:t>
            </a:r>
            <a:r>
              <a:rPr sz="3000" b="1">
                <a:solidFill>
                  <a:srgbClr val="F6931D"/>
                </a:solidFill>
                <a:latin typeface="HK Grotesk Bold"/>
              </a:rPr>
              <a:t>404</a:t>
            </a:r>
            <a:r>
              <a:rPr sz="3000" b="0">
                <a:solidFill>
                  <a:srgbClr val="FFFFFF"/>
                </a:solidFill>
                <a:latin typeface="Canva Sans"/>
              </a:rPr>
              <a:t> Não encontrado    ·    </a:t>
            </a:r>
            <a:r>
              <a:rPr sz="3000" b="1">
                <a:solidFill>
                  <a:srgbClr val="F6931D"/>
                </a:solidFill>
                <a:latin typeface="HK Grotesk Bold"/>
              </a:rPr>
              <a:t>500</a:t>
            </a:r>
            <a:r>
              <a:rPr sz="3000" b="0">
                <a:solidFill>
                  <a:srgbClr val="FFFFFF"/>
                </a:solidFill>
                <a:latin typeface="Canva Sans"/>
              </a:rPr>
              <a:t> Erro no servidor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37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61520"/>
          </a:xfrm>
          <a:custGeom>
            <a:avLst/>
            <a:gdLst/>
            <a:ahLst/>
            <a:cxnLst/>
            <a:rect r="r" b="b" t="t" l="l"/>
            <a:pathLst>
              <a:path h="12161520" w="18288000">
                <a:moveTo>
                  <a:pt x="0" y="0"/>
                </a:moveTo>
                <a:lnTo>
                  <a:pt x="18288000" y="0"/>
                </a:lnTo>
                <a:lnTo>
                  <a:pt x="18288000" y="12161520"/>
                </a:lnTo>
                <a:lnTo>
                  <a:pt x="0" y="12161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8916" y="1028700"/>
            <a:ext cx="2260384" cy="717672"/>
          </a:xfrm>
          <a:custGeom>
            <a:avLst/>
            <a:gdLst/>
            <a:ahLst/>
            <a:cxnLst/>
            <a:rect r="r" b="b" t="t" l="l"/>
            <a:pathLst>
              <a:path h="717672" w="2260384">
                <a:moveTo>
                  <a:pt x="0" y="0"/>
                </a:moveTo>
                <a:lnTo>
                  <a:pt x="2260384" y="0"/>
                </a:lnTo>
                <a:lnTo>
                  <a:pt x="2260384" y="717672"/>
                </a:lnTo>
                <a:lnTo>
                  <a:pt x="0" y="717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4" name="Título"/>
          <p:cNvSpPr txBox="1"/>
          <p:nvPr/>
        </p:nvSpPr>
        <p:spPr>
          <a:xfrm>
            <a:off x="1005840" y="9144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HK Grotesk Bold"/>
              </a:rPr>
              <a:t>HTML, CSS e JavaScript</a:t>
            </a:r>
          </a:p>
        </p:txBody>
      </p:sp>
      <p:sp>
        <p:nvSpPr>
          <p:cNvPr id="5" name="Card"/>
          <p:cNvSpPr/>
          <p:nvPr/>
        </p:nvSpPr>
        <p:spPr>
          <a:xfrm>
            <a:off x="1005840" y="310896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27377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beçalho do cartão"/>
          <p:cNvSpPr txBox="1"/>
          <p:nvPr/>
        </p:nvSpPr>
        <p:spPr>
          <a:xfrm>
            <a:off x="1554480" y="356616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600" b="1">
                <a:solidFill>
                  <a:srgbClr val="F6931D"/>
                </a:solidFill>
                <a:latin typeface="HK Grotesk Bold"/>
              </a:rPr>
              <a:t>HTML</a:t>
            </a:r>
          </a:p>
        </p:txBody>
      </p:sp>
      <p:sp>
        <p:nvSpPr>
          <p:cNvPr id="7" name="Texto do cartão"/>
          <p:cNvSpPr txBox="1"/>
          <p:nvPr/>
        </p:nvSpPr>
        <p:spPr>
          <a:xfrm>
            <a:off x="1554480" y="4663440"/>
            <a:ext cx="4114800" cy="2285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Canva Sans"/>
              </a:rPr>
              <a:t>Estrutura e conteúdo da página.</a:t>
            </a:r>
          </a:p>
        </p:txBody>
      </p:sp>
      <p:sp>
        <p:nvSpPr>
          <p:cNvPr id="8" name="Card"/>
          <p:cNvSpPr/>
          <p:nvPr/>
        </p:nvSpPr>
        <p:spPr>
          <a:xfrm>
            <a:off x="6537960" y="310896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27377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beçalho do cartão"/>
          <p:cNvSpPr txBox="1"/>
          <p:nvPr/>
        </p:nvSpPr>
        <p:spPr>
          <a:xfrm>
            <a:off x="7086600" y="356616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600" b="1">
                <a:solidFill>
                  <a:srgbClr val="F6931D"/>
                </a:solidFill>
                <a:latin typeface="HK Grotesk Bold"/>
              </a:rPr>
              <a:t>CSS</a:t>
            </a:r>
          </a:p>
        </p:txBody>
      </p:sp>
      <p:sp>
        <p:nvSpPr>
          <p:cNvPr id="10" name="Texto do cartão"/>
          <p:cNvSpPr txBox="1"/>
          <p:nvPr/>
        </p:nvSpPr>
        <p:spPr>
          <a:xfrm>
            <a:off x="7086600" y="4663440"/>
            <a:ext cx="4114800" cy="2285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Canva Sans"/>
              </a:rPr>
              <a:t>Aparência: cores, fontes e layout.</a:t>
            </a:r>
          </a:p>
        </p:txBody>
      </p:sp>
      <p:sp>
        <p:nvSpPr>
          <p:cNvPr id="11" name="Card"/>
          <p:cNvSpPr/>
          <p:nvPr/>
        </p:nvSpPr>
        <p:spPr>
          <a:xfrm>
            <a:off x="12070080" y="310896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27377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beçalho do cartão"/>
          <p:cNvSpPr txBox="1"/>
          <p:nvPr/>
        </p:nvSpPr>
        <p:spPr>
          <a:xfrm>
            <a:off x="12618719" y="356616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600" b="1">
                <a:solidFill>
                  <a:srgbClr val="F6931D"/>
                </a:solidFill>
                <a:latin typeface="HK Grotesk Bold"/>
              </a:rPr>
              <a:t>JavaScript</a:t>
            </a:r>
          </a:p>
        </p:txBody>
      </p:sp>
      <p:sp>
        <p:nvSpPr>
          <p:cNvPr id="13" name="Texto do cartão"/>
          <p:cNvSpPr txBox="1"/>
          <p:nvPr/>
        </p:nvSpPr>
        <p:spPr>
          <a:xfrm>
            <a:off x="12618719" y="4663440"/>
            <a:ext cx="4114800" cy="2285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Canva Sans"/>
              </a:rPr>
              <a:t>Comportamento e interação.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42766" y="-1307511"/>
            <a:ext cx="4268549" cy="3774591"/>
          </a:xfrm>
          <a:custGeom>
            <a:avLst/>
            <a:gdLst/>
            <a:ahLst/>
            <a:cxnLst/>
            <a:rect r="r" b="b" t="t" l="l"/>
            <a:pathLst>
              <a:path h="3774591" w="4268549">
                <a:moveTo>
                  <a:pt x="0" y="0"/>
                </a:moveTo>
                <a:lnTo>
                  <a:pt x="4268549" y="0"/>
                </a:lnTo>
                <a:lnTo>
                  <a:pt x="4268549" y="3774591"/>
                </a:lnTo>
                <a:lnTo>
                  <a:pt x="0" y="3774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8" t="-14439" r="-59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8916" y="1028700"/>
            <a:ext cx="2260384" cy="717672"/>
          </a:xfrm>
          <a:custGeom>
            <a:avLst/>
            <a:gdLst/>
            <a:ahLst/>
            <a:cxnLst/>
            <a:rect r="r" b="b" t="t" l="l"/>
            <a:pathLst>
              <a:path h="717672" w="2260384">
                <a:moveTo>
                  <a:pt x="0" y="0"/>
                </a:moveTo>
                <a:lnTo>
                  <a:pt x="2260384" y="0"/>
                </a:lnTo>
                <a:lnTo>
                  <a:pt x="2260384" y="717672"/>
                </a:lnTo>
                <a:lnTo>
                  <a:pt x="0" y="717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4" name="Título"/>
          <p:cNvSpPr txBox="1"/>
          <p:nvPr/>
        </p:nvSpPr>
        <p:spPr>
          <a:xfrm>
            <a:off x="1005840" y="9144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273773"/>
                </a:solidFill>
                <a:latin typeface="HK Grotesk Bold"/>
              </a:rPr>
              <a:t>Conceito fundamental</a:t>
            </a:r>
          </a:p>
        </p:txBody>
      </p:sp>
      <p:sp>
        <p:nvSpPr>
          <p:cNvPr id="5" name="Card"/>
          <p:cNvSpPr/>
          <p:nvPr/>
        </p:nvSpPr>
        <p:spPr>
          <a:xfrm>
            <a:off x="1005840" y="365760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o"/>
          <p:cNvSpPr txBox="1"/>
          <p:nvPr/>
        </p:nvSpPr>
        <p:spPr>
          <a:xfrm>
            <a:off x="1188720" y="365760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HK Grotesk Bold"/>
              </a:rPr>
              <a:t>Usuário</a:t>
            </a:r>
          </a:p>
        </p:txBody>
      </p:sp>
      <p:sp>
        <p:nvSpPr>
          <p:cNvPr id="7" name="Texto"/>
          <p:cNvSpPr txBox="1"/>
          <p:nvPr/>
        </p:nvSpPr>
        <p:spPr>
          <a:xfrm>
            <a:off x="1005840" y="60350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273773"/>
                </a:solidFill>
                <a:latin typeface="Canva Sans"/>
              </a:rPr>
              <a:t>Acessa pelo navegador</a:t>
            </a:r>
          </a:p>
        </p:txBody>
      </p:sp>
      <p:sp>
        <p:nvSpPr>
          <p:cNvPr id="8" name="Seta"/>
          <p:cNvSpPr/>
          <p:nvPr/>
        </p:nvSpPr>
        <p:spPr>
          <a:xfrm>
            <a:off x="4480560" y="4389120"/>
            <a:ext cx="731520" cy="548640"/>
          </a:xfrm>
          <a:prstGeom prst="rightArrow">
            <a:avLst/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"/>
          <p:cNvSpPr/>
          <p:nvPr/>
        </p:nvSpPr>
        <p:spPr>
          <a:xfrm>
            <a:off x="5303520" y="365760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o"/>
          <p:cNvSpPr txBox="1"/>
          <p:nvPr/>
        </p:nvSpPr>
        <p:spPr>
          <a:xfrm>
            <a:off x="5486400" y="365760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HK Grotesk Bold"/>
              </a:rPr>
              <a:t>Front-end</a:t>
            </a:r>
          </a:p>
        </p:txBody>
      </p:sp>
      <p:sp>
        <p:nvSpPr>
          <p:cNvPr id="11" name="Texto"/>
          <p:cNvSpPr txBox="1"/>
          <p:nvPr/>
        </p:nvSpPr>
        <p:spPr>
          <a:xfrm>
            <a:off x="5303520" y="60350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273773"/>
                </a:solidFill>
                <a:latin typeface="Canva Sans"/>
              </a:rPr>
              <a:t>Interface que o usuário vê</a:t>
            </a:r>
          </a:p>
        </p:txBody>
      </p:sp>
      <p:sp>
        <p:nvSpPr>
          <p:cNvPr id="12" name="Seta"/>
          <p:cNvSpPr/>
          <p:nvPr/>
        </p:nvSpPr>
        <p:spPr>
          <a:xfrm>
            <a:off x="8778240" y="4389120"/>
            <a:ext cx="731520" cy="548640"/>
          </a:xfrm>
          <a:prstGeom prst="rightArrow">
            <a:avLst/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"/>
          <p:cNvSpPr/>
          <p:nvPr/>
        </p:nvSpPr>
        <p:spPr>
          <a:xfrm>
            <a:off x="9601200" y="365760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o"/>
          <p:cNvSpPr txBox="1"/>
          <p:nvPr/>
        </p:nvSpPr>
        <p:spPr>
          <a:xfrm>
            <a:off x="9784080" y="365760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HK Grotesk Bold"/>
              </a:rPr>
              <a:t>API /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HK Grotesk Bold"/>
              </a:rPr>
              <a:t>Back-end</a:t>
            </a:r>
          </a:p>
        </p:txBody>
      </p:sp>
      <p:sp>
        <p:nvSpPr>
          <p:cNvPr id="15" name="Texto"/>
          <p:cNvSpPr txBox="1"/>
          <p:nvPr/>
        </p:nvSpPr>
        <p:spPr>
          <a:xfrm>
            <a:off x="9601200" y="60350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273773"/>
                </a:solidFill>
                <a:latin typeface="Canva Sans"/>
              </a:rPr>
              <a:t>Regras e processamento</a:t>
            </a:r>
          </a:p>
        </p:txBody>
      </p:sp>
      <p:sp>
        <p:nvSpPr>
          <p:cNvPr id="16" name="Seta"/>
          <p:cNvSpPr/>
          <p:nvPr/>
        </p:nvSpPr>
        <p:spPr>
          <a:xfrm>
            <a:off x="13075920" y="4389120"/>
            <a:ext cx="731520" cy="548640"/>
          </a:xfrm>
          <a:prstGeom prst="rightArrow">
            <a:avLst/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"/>
          <p:cNvSpPr/>
          <p:nvPr/>
        </p:nvSpPr>
        <p:spPr>
          <a:xfrm>
            <a:off x="13898880" y="365760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273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o"/>
          <p:cNvSpPr txBox="1"/>
          <p:nvPr/>
        </p:nvSpPr>
        <p:spPr>
          <a:xfrm>
            <a:off x="14081760" y="365760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HK Grotesk Bold"/>
              </a:rPr>
              <a:t>Banco de Dados</a:t>
            </a:r>
          </a:p>
        </p:txBody>
      </p:sp>
      <p:sp>
        <p:nvSpPr>
          <p:cNvPr id="19" name="Texto"/>
          <p:cNvSpPr txBox="1"/>
          <p:nvPr/>
        </p:nvSpPr>
        <p:spPr>
          <a:xfrm>
            <a:off x="13898880" y="60350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273773"/>
                </a:solidFill>
                <a:latin typeface="Canva Sans"/>
              </a:rPr>
              <a:t>Armazena os dados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37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98916" y="1028700"/>
            <a:ext cx="2260384" cy="717672"/>
          </a:xfrm>
          <a:custGeom>
            <a:avLst/>
            <a:gdLst/>
            <a:ahLst/>
            <a:cxnLst/>
            <a:rect r="r" b="b" t="t" l="l"/>
            <a:pathLst>
              <a:path h="717672" w="2260384">
                <a:moveTo>
                  <a:pt x="0" y="0"/>
                </a:moveTo>
                <a:lnTo>
                  <a:pt x="2260384" y="0"/>
                </a:lnTo>
                <a:lnTo>
                  <a:pt x="2260384" y="717672"/>
                </a:lnTo>
                <a:lnTo>
                  <a:pt x="0" y="71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1005840" y="9144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HK Grotesk Bold"/>
              </a:rPr>
              <a:t>DevTools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1005840" y="2194560"/>
            <a:ext cx="16276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Canva Sans"/>
              </a:rPr>
              <a:t>Abra com F12 ou clique com o botão direito e escolha Inspecionar.</a:t>
            </a:r>
          </a:p>
        </p:txBody>
      </p:sp>
      <p:sp>
        <p:nvSpPr>
          <p:cNvPr id="5" name="Card"/>
          <p:cNvSpPr/>
          <p:nvPr/>
        </p:nvSpPr>
        <p:spPr>
          <a:xfrm>
            <a:off x="1005840" y="365760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F6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beçalho do cartão"/>
          <p:cNvSpPr txBox="1"/>
          <p:nvPr/>
        </p:nvSpPr>
        <p:spPr>
          <a:xfrm>
            <a:off x="1554480" y="41148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273773"/>
                </a:solidFill>
                <a:latin typeface="HK Grotesk Bold"/>
              </a:rPr>
              <a:t>Elements</a:t>
            </a:r>
          </a:p>
        </p:txBody>
      </p:sp>
      <p:sp>
        <p:nvSpPr>
          <p:cNvPr id="7" name="Texto do cartão"/>
          <p:cNvSpPr txBox="1"/>
          <p:nvPr/>
        </p:nvSpPr>
        <p:spPr>
          <a:xfrm>
            <a:off x="1554480" y="5212080"/>
            <a:ext cx="4114800" cy="2285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273773"/>
                </a:solidFill>
                <a:latin typeface="Canva Sans"/>
              </a:rPr>
              <a:t>O HTML e o CSS da página.</a:t>
            </a:r>
          </a:p>
        </p:txBody>
      </p:sp>
      <p:sp>
        <p:nvSpPr>
          <p:cNvPr id="8" name="Card"/>
          <p:cNvSpPr/>
          <p:nvPr/>
        </p:nvSpPr>
        <p:spPr>
          <a:xfrm>
            <a:off x="6537960" y="365760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F6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beçalho do cartão"/>
          <p:cNvSpPr txBox="1"/>
          <p:nvPr/>
        </p:nvSpPr>
        <p:spPr>
          <a:xfrm>
            <a:off x="7086600" y="41148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273773"/>
                </a:solidFill>
                <a:latin typeface="HK Grotesk Bold"/>
              </a:rPr>
              <a:t>Network</a:t>
            </a:r>
          </a:p>
        </p:txBody>
      </p:sp>
      <p:sp>
        <p:nvSpPr>
          <p:cNvPr id="10" name="Texto do cartão"/>
          <p:cNvSpPr txBox="1"/>
          <p:nvPr/>
        </p:nvSpPr>
        <p:spPr>
          <a:xfrm>
            <a:off x="7086600" y="5212080"/>
            <a:ext cx="4114800" cy="2285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273773"/>
                </a:solidFill>
                <a:latin typeface="Canva Sans"/>
              </a:rPr>
              <a:t>Requisições, respostas e imagens carregadas.</a:t>
            </a:r>
          </a:p>
        </p:txBody>
      </p:sp>
      <p:sp>
        <p:nvSpPr>
          <p:cNvPr id="11" name="Card"/>
          <p:cNvSpPr/>
          <p:nvPr/>
        </p:nvSpPr>
        <p:spPr>
          <a:xfrm>
            <a:off x="12070080" y="365760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F6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beçalho do cartão"/>
          <p:cNvSpPr txBox="1"/>
          <p:nvPr/>
        </p:nvSpPr>
        <p:spPr>
          <a:xfrm>
            <a:off x="12618719" y="41148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>
                <a:solidFill>
                  <a:srgbClr val="273773"/>
                </a:solidFill>
                <a:latin typeface="HK Grotesk Bold"/>
              </a:rPr>
              <a:t>Sources</a:t>
            </a:r>
          </a:p>
        </p:txBody>
      </p:sp>
      <p:sp>
        <p:nvSpPr>
          <p:cNvPr id="13" name="Texto do cartão"/>
          <p:cNvSpPr txBox="1"/>
          <p:nvPr/>
        </p:nvSpPr>
        <p:spPr>
          <a:xfrm>
            <a:off x="12618719" y="5212080"/>
            <a:ext cx="4114800" cy="2285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273773"/>
                </a:solidFill>
                <a:latin typeface="Canva Sans"/>
              </a:rPr>
              <a:t>Os scripts JavaScript da página.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61520"/>
          </a:xfrm>
          <a:custGeom>
            <a:avLst/>
            <a:gdLst/>
            <a:ahLst/>
            <a:cxnLst/>
            <a:rect r="r" b="b" t="t" l="l"/>
            <a:pathLst>
              <a:path h="12161520" w="18288000">
                <a:moveTo>
                  <a:pt x="0" y="0"/>
                </a:moveTo>
                <a:lnTo>
                  <a:pt x="18288000" y="0"/>
                </a:lnTo>
                <a:lnTo>
                  <a:pt x="18288000" y="12161520"/>
                </a:lnTo>
                <a:lnTo>
                  <a:pt x="0" y="12161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8916" y="1028700"/>
            <a:ext cx="2260384" cy="717672"/>
          </a:xfrm>
          <a:custGeom>
            <a:avLst/>
            <a:gdLst/>
            <a:ahLst/>
            <a:cxnLst/>
            <a:rect r="r" b="b" t="t" l="l"/>
            <a:pathLst>
              <a:path h="717672" w="2260384">
                <a:moveTo>
                  <a:pt x="0" y="0"/>
                </a:moveTo>
                <a:lnTo>
                  <a:pt x="2260384" y="0"/>
                </a:lnTo>
                <a:lnTo>
                  <a:pt x="2260384" y="717672"/>
                </a:lnTo>
                <a:lnTo>
                  <a:pt x="0" y="717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46443" y="4593579"/>
            <a:ext cx="4091512" cy="7355527"/>
          </a:xfrm>
          <a:custGeom>
            <a:avLst/>
            <a:gdLst/>
            <a:ahLst/>
            <a:cxnLst/>
            <a:rect r="r" b="b" t="t" l="l"/>
            <a:pathLst>
              <a:path h="7355527" w="4091512">
                <a:moveTo>
                  <a:pt x="0" y="0"/>
                </a:moveTo>
                <a:lnTo>
                  <a:pt x="4091512" y="0"/>
                </a:lnTo>
                <a:lnTo>
                  <a:pt x="4091512" y="7355526"/>
                </a:lnTo>
                <a:lnTo>
                  <a:pt x="0" y="7355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5" name="Título"/>
          <p:cNvSpPr txBox="1"/>
          <p:nvPr/>
        </p:nvSpPr>
        <p:spPr>
          <a:xfrm>
            <a:off x="1005840" y="9144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HK Grotesk Bold"/>
              </a:rPr>
              <a:t>Atividade prática</a:t>
            </a:r>
          </a:p>
        </p:txBody>
      </p:sp>
      <p:sp>
        <p:nvSpPr>
          <p:cNvPr id="6" name="Card"/>
          <p:cNvSpPr/>
          <p:nvPr/>
        </p:nvSpPr>
        <p:spPr>
          <a:xfrm>
            <a:off x="1005840" y="2651760"/>
            <a:ext cx="12070080" cy="6400800"/>
          </a:xfrm>
          <a:prstGeom prst="roundRect">
            <a:avLst>
              <a:gd name="adj" fmla="val 8000"/>
            </a:avLst>
          </a:prstGeom>
          <a:solidFill>
            <a:srgbClr val="273773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o"/>
          <p:cNvSpPr txBox="1"/>
          <p:nvPr/>
        </p:nvSpPr>
        <p:spPr>
          <a:xfrm>
            <a:off x="1645920" y="310896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Canva Sans"/>
              </a:rPr>
              <a:t>Inspecionar diferentes sites utilizando DevTools.</a:t>
            </a:r>
          </a:p>
        </p:txBody>
      </p:sp>
      <p:sp>
        <p:nvSpPr>
          <p:cNvPr id="8" name="Texto"/>
          <p:cNvSpPr txBox="1"/>
          <p:nvPr/>
        </p:nvSpPr>
        <p:spPr>
          <a:xfrm>
            <a:off x="1645920" y="47548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6931D"/>
                </a:solidFill>
                <a:latin typeface="HK Grotesk Bold"/>
              </a:rPr>
              <a:t>Identificar:</a:t>
            </a:r>
          </a:p>
        </p:txBody>
      </p:sp>
      <p:sp>
        <p:nvSpPr>
          <p:cNvPr id="9" name="Texto"/>
          <p:cNvSpPr txBox="1"/>
          <p:nvPr/>
        </p:nvSpPr>
        <p:spPr>
          <a:xfrm>
            <a:off x="1645920" y="5669280"/>
            <a:ext cx="1078992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457200" indent="-457200">
              <a:lnSpc>
                <a:spcPct val="110000"/>
              </a:lnSpc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3200" b="0">
                <a:solidFill>
                  <a:srgbClr val="FFFFFF"/>
                </a:solidFill>
                <a:latin typeface="Canva Sans"/>
              </a:rPr>
              <a:t>HTML</a:t>
            </a:r>
          </a:p>
          <a:p>
            <a:pPr algn="l" marL="457200" indent="-457200">
              <a:lnSpc>
                <a:spcPct val="110000"/>
              </a:lnSpc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3200" b="0">
                <a:solidFill>
                  <a:srgbClr val="FFFFFF"/>
                </a:solidFill>
                <a:latin typeface="Canva Sans"/>
              </a:rPr>
              <a:t>CSS</a:t>
            </a:r>
          </a:p>
          <a:p>
            <a:pPr algn="l" marL="457200" indent="-457200">
              <a:lnSpc>
                <a:spcPct val="110000"/>
              </a:lnSpc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3200" b="0">
                <a:solidFill>
                  <a:srgbClr val="FFFFFF"/>
                </a:solidFill>
                <a:latin typeface="Canva Sans"/>
              </a:rPr>
              <a:t>Requisições</a:t>
            </a:r>
          </a:p>
          <a:p>
            <a:pPr algn="l" marL="457200" indent="-457200">
              <a:lnSpc>
                <a:spcPct val="110000"/>
              </a:lnSpc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3200" b="0">
                <a:solidFill>
                  <a:srgbClr val="FFFFFF"/>
                </a:solidFill>
                <a:latin typeface="Canva Sans"/>
              </a:rPr>
              <a:t>Imagens</a:t>
            </a:r>
          </a:p>
          <a:p>
            <a:pPr algn="l" marL="457200" indent="-457200">
              <a:lnSpc>
                <a:spcPct val="110000"/>
              </a:lnSpc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3200" b="0">
                <a:solidFill>
                  <a:srgbClr val="FFFFFF"/>
                </a:solidFill>
                <a:latin typeface="Canva Sans"/>
              </a:rPr>
              <a:t>Scripts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37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61520"/>
          </a:xfrm>
          <a:custGeom>
            <a:avLst/>
            <a:gdLst/>
            <a:ahLst/>
            <a:cxnLst/>
            <a:rect r="r" b="b" t="t" l="l"/>
            <a:pathLst>
              <a:path h="12161520" w="18288000">
                <a:moveTo>
                  <a:pt x="0" y="0"/>
                </a:moveTo>
                <a:lnTo>
                  <a:pt x="18288000" y="0"/>
                </a:lnTo>
                <a:lnTo>
                  <a:pt x="18288000" y="12161520"/>
                </a:lnTo>
                <a:lnTo>
                  <a:pt x="0" y="12161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8916" y="1028700"/>
            <a:ext cx="2260384" cy="717672"/>
          </a:xfrm>
          <a:custGeom>
            <a:avLst/>
            <a:gdLst/>
            <a:ahLst/>
            <a:cxnLst/>
            <a:rect r="r" b="b" t="t" l="l"/>
            <a:pathLst>
              <a:path h="717672" w="2260384">
                <a:moveTo>
                  <a:pt x="0" y="0"/>
                </a:moveTo>
                <a:lnTo>
                  <a:pt x="2260384" y="0"/>
                </a:lnTo>
                <a:lnTo>
                  <a:pt x="2260384" y="717672"/>
                </a:lnTo>
                <a:lnTo>
                  <a:pt x="0" y="717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4" name="Título"/>
          <p:cNvSpPr txBox="1"/>
          <p:nvPr/>
        </p:nvSpPr>
        <p:spPr>
          <a:xfrm>
            <a:off x="1005840" y="9144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HK Grotesk Bold"/>
              </a:rPr>
              <a:t>Desafio</a:t>
            </a:r>
          </a:p>
        </p:txBody>
      </p:sp>
      <p:sp>
        <p:nvSpPr>
          <p:cNvPr id="5" name="Card"/>
          <p:cNvSpPr/>
          <p:nvPr/>
        </p:nvSpPr>
        <p:spPr>
          <a:xfrm>
            <a:off x="1005840" y="2651760"/>
            <a:ext cx="16276320" cy="2651760"/>
          </a:xfrm>
          <a:prstGeom prst="roundRect">
            <a:avLst>
              <a:gd name="adj" fmla="val 8000"/>
            </a:avLst>
          </a:prstGeom>
          <a:solidFill>
            <a:srgbClr val="27377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o"/>
          <p:cNvSpPr txBox="1"/>
          <p:nvPr/>
        </p:nvSpPr>
        <p:spPr>
          <a:xfrm>
            <a:off x="1645920" y="2926080"/>
            <a:ext cx="14996159" cy="2103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Canva Sans"/>
              </a:rPr>
              <a:t>Os grupos recebem diferentes sistemas e precisam identificar quais partes provavelmente pertencem ao Front-end e ao Back-end.</a:t>
            </a:r>
          </a:p>
        </p:txBody>
      </p:sp>
      <p:sp>
        <p:nvSpPr>
          <p:cNvPr id="7" name="Card"/>
          <p:cNvSpPr/>
          <p:nvPr/>
        </p:nvSpPr>
        <p:spPr>
          <a:xfrm>
            <a:off x="1005840" y="5760720"/>
            <a:ext cx="7955279" cy="3108960"/>
          </a:xfrm>
          <a:prstGeom prst="roundRect">
            <a:avLst>
              <a:gd name="adj" fmla="val 8000"/>
            </a:avLst>
          </a:prstGeom>
          <a:solidFill>
            <a:srgbClr val="F6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o"/>
          <p:cNvSpPr txBox="1"/>
          <p:nvPr/>
        </p:nvSpPr>
        <p:spPr>
          <a:xfrm>
            <a:off x="1554480" y="62179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600" b="1">
                <a:solidFill>
                  <a:srgbClr val="273773"/>
                </a:solidFill>
                <a:latin typeface="HK Grotesk Bold"/>
              </a:rPr>
              <a:t>Front-end</a:t>
            </a:r>
          </a:p>
        </p:txBody>
      </p:sp>
      <p:sp>
        <p:nvSpPr>
          <p:cNvPr id="9" name="Texto"/>
          <p:cNvSpPr txBox="1"/>
          <p:nvPr/>
        </p:nvSpPr>
        <p:spPr>
          <a:xfrm>
            <a:off x="1554480" y="7315200"/>
            <a:ext cx="68580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273773"/>
                </a:solidFill>
                <a:latin typeface="Canva Sans"/>
              </a:rPr>
              <a:t>O que o usuário vê e usa no navegador.</a:t>
            </a:r>
          </a:p>
        </p:txBody>
      </p:sp>
      <p:sp>
        <p:nvSpPr>
          <p:cNvPr id="10" name="Card"/>
          <p:cNvSpPr/>
          <p:nvPr/>
        </p:nvSpPr>
        <p:spPr>
          <a:xfrm>
            <a:off x="9326880" y="5760720"/>
            <a:ext cx="7955279" cy="3108960"/>
          </a:xfrm>
          <a:prstGeom prst="roundRect">
            <a:avLst>
              <a:gd name="adj" fmla="val 8000"/>
            </a:avLst>
          </a:prstGeom>
          <a:solidFill>
            <a:srgbClr val="F69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o"/>
          <p:cNvSpPr txBox="1"/>
          <p:nvPr/>
        </p:nvSpPr>
        <p:spPr>
          <a:xfrm>
            <a:off x="9875519" y="62179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600" b="1">
                <a:solidFill>
                  <a:srgbClr val="273773"/>
                </a:solidFill>
                <a:latin typeface="HK Grotesk Bold"/>
              </a:rPr>
              <a:t>Back-end</a:t>
            </a:r>
          </a:p>
        </p:txBody>
      </p:sp>
      <p:sp>
        <p:nvSpPr>
          <p:cNvPr id="12" name="Texto"/>
          <p:cNvSpPr txBox="1"/>
          <p:nvPr/>
        </p:nvSpPr>
        <p:spPr>
          <a:xfrm>
            <a:off x="9875519" y="7315200"/>
            <a:ext cx="68580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273773"/>
                </a:solidFill>
                <a:latin typeface="Canva Sans"/>
              </a:rPr>
              <a:t>O que roda no servidor: regras, API e banco de dados.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DAHW_LX8y38</dc:identifier>
  <dcterms:modified xsi:type="dcterms:W3CDTF">2011-08-01T06:04:30Z</dcterms:modified>
  <cp:revision>1</cp:revision>
  <dc:title>full stack - U2: Aula 01</dc:title>
</cp:coreProperties>
</file>